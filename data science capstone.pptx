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 id="277" r:id="rId21"/>
    <p:sldId id="275" r:id="rId22"/>
    <p:sldId id="276" r:id="rId23"/>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78"/>
  </p:normalViewPr>
  <p:slideViewPr>
    <p:cSldViewPr snapToGrid="0">
      <p:cViewPr varScale="1">
        <p:scale>
          <a:sx n="91" d="100"/>
          <a:sy n="91" d="100"/>
        </p:scale>
        <p:origin x="19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Lst>
          </p:cNvPr>
          <p:cNvSpPr/>
          <p:nvPr/>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5067300" y="4571999"/>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bg1"/>
                </a:solidFill>
              </a:defRPr>
            </a:lvl1pPr>
          </a:lstStyle>
          <a:p>
            <a:fld id="{22927AFB-A171-440E-85AE-8173A49EBA6A}"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876939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398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Saturday, January 10,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9582063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bg1"/>
                </a:solidFill>
              </a:defRPr>
            </a:lvl1pPr>
          </a:lstStyle>
          <a:p>
            <a:fld id="{F2D689D1-54B3-41D9-B112-32329B9B3CC6}"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371539303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bg1"/>
                </a:solidFill>
              </a:defRPr>
            </a:lvl1pPr>
          </a:lstStyle>
          <a:p>
            <a:fld id="{E144AFCF-5D00-4E8A-BE78-0A3382672AA6}" type="datetime2">
              <a:rPr lang="en-US" smtClean="0"/>
              <a:t>Saturday, January 10,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60891646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5235187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C38FEA-146D-53B3-36B0-5CBD8040636E}"/>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5259F214-985C-4E7A-8724-986944FA2171}" type="datetime2">
              <a:rPr lang="en-US" smtClean="0"/>
              <a:t>Saturday, January 10,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6894903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E2F783-0ED7-1F0B-219A-198549E350DD}"/>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Saturday, January 10,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1489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99795405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89186573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Saturday, January 10,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412456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Saturday, January 10,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493071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8606AF-234E-F01C-E350-3E326E5ABE30}"/>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76187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4834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2549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5941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8875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20085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874846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88389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761185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03504" y="603504"/>
            <a:ext cx="4643816"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Saturday, January 10,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82983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Saturday, January 10,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32661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Saturday, January 10,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28429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Saturday, January 10,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0974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Saturday, January 10,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470501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Saturday, January 10,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767105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Saturday, January 10,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4651966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Lst>
          </p:cNvPr>
          <p:cNvSpPr/>
          <p:nvPr/>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33529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613945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192172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Saturday, January 10,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624154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Saturday, January 10,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073481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Saturday, January 10,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49069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Saturday, January 10,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049616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Saturday, January 10,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443618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Saturday, January 10,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054221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Lst>
          </p:cNvPr>
          <p:cNvSpPr/>
          <p:nvPr/>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Saturday, January 10,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390842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Saturday, January 10,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447448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Lst>
          </p:cNvPr>
          <p:cNvSpPr/>
          <p:nvPr/>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Saturday, January 10,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914335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13327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Saturday, January 10,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51232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Saturday, January 10,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53500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Saturday, January 10,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5665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96000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Saturday, January 10,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76095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0603868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220095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Saturday, January 10,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79300177"/>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0" r:id="rId17"/>
    <p:sldLayoutId id="2147483881" r:id="rId18"/>
    <p:sldLayoutId id="2147483882" r:id="rId19"/>
    <p:sldLayoutId id="2147483883" r:id="rId20"/>
    <p:sldLayoutId id="2147483884" r:id="rId21"/>
    <p:sldLayoutId id="2147483885" r:id="rId22"/>
    <p:sldLayoutId id="2147483886" r:id="rId23"/>
    <p:sldLayoutId id="2147483887" r:id="rId24"/>
    <p:sldLayoutId id="2147483888" r:id="rId25"/>
    <p:sldLayoutId id="2147483889" r:id="rId26"/>
    <p:sldLayoutId id="2147483890" r:id="rId27"/>
    <p:sldLayoutId id="2147483891" r:id="rId28"/>
    <p:sldLayoutId id="2147483892" r:id="rId29"/>
    <p:sldLayoutId id="2147483893" r:id="rId30"/>
    <p:sldLayoutId id="2147483894" r:id="rId31"/>
    <p:sldLayoutId id="2147483863" r:id="rId32"/>
    <p:sldLayoutId id="2147483895" r:id="rId33"/>
    <p:sldLayoutId id="2147483896" r:id="rId34"/>
    <p:sldLayoutId id="2147483897" r:id="rId35"/>
    <p:sldLayoutId id="2147483898" r:id="rId36"/>
    <p:sldLayoutId id="2147483899" r:id="rId37"/>
    <p:sldLayoutId id="2147483900" r:id="rId38"/>
    <p:sldLayoutId id="2147483901" r:id="rId39"/>
    <p:sldLayoutId id="2147483902" r:id="rId40"/>
    <p:sldLayoutId id="2147483907" r:id="rId41"/>
    <p:sldLayoutId id="2147483903" r:id="rId42"/>
    <p:sldLayoutId id="2147483904" r:id="rId43"/>
    <p:sldLayoutId id="2147483905" r:id="rId44"/>
    <p:sldLayoutId id="2147483906" r:id="rId45"/>
    <p:sldLayoutId id="2147483860" r:id="rId46"/>
    <p:sldLayoutId id="2147483861" r:id="rId47"/>
    <p:sldLayoutId id="2147483862"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D7A48-0F2C-401B-91D2-95AE2349A8B3}"/>
              </a:ext>
            </a:extLst>
          </p:cNvPr>
          <p:cNvSpPr>
            <a:spLocks noGrp="1"/>
          </p:cNvSpPr>
          <p:nvPr>
            <p:ph type="ctrTitle"/>
          </p:nvPr>
        </p:nvSpPr>
        <p:spPr>
          <a:xfrm>
            <a:off x="5687568" y="1270535"/>
            <a:ext cx="5513832" cy="2889504"/>
          </a:xfrm>
        </p:spPr>
        <p:txBody>
          <a:bodyPr anchor="b">
            <a:normAutofit/>
          </a:bodyPr>
          <a:lstStyle/>
          <a:p>
            <a:r>
              <a:rPr lang="en-NL" dirty="0"/>
              <a:t>DATA SCIENCE CAPSTONE PROJECT</a:t>
            </a:r>
          </a:p>
        </p:txBody>
      </p:sp>
      <p:sp>
        <p:nvSpPr>
          <p:cNvPr id="3" name="Subtitle 2">
            <a:extLst>
              <a:ext uri="{FF2B5EF4-FFF2-40B4-BE49-F238E27FC236}">
                <a16:creationId xmlns:a16="http://schemas.microsoft.com/office/drawing/2014/main" id="{A39FD651-6EEF-47EA-B46D-C1D0937C1B9B}"/>
              </a:ext>
            </a:extLst>
          </p:cNvPr>
          <p:cNvSpPr>
            <a:spLocks noGrp="1"/>
          </p:cNvSpPr>
          <p:nvPr>
            <p:ph type="subTitle" idx="1"/>
          </p:nvPr>
        </p:nvSpPr>
        <p:spPr>
          <a:xfrm>
            <a:off x="5687568" y="4974336"/>
            <a:ext cx="5715000" cy="1481328"/>
          </a:xfrm>
        </p:spPr>
        <p:txBody>
          <a:bodyPr anchor="ctr">
            <a:normAutofit/>
          </a:bodyPr>
          <a:lstStyle/>
          <a:p>
            <a:r>
              <a:rPr lang="en-NL" dirty="0"/>
              <a:t>YASIN SINAN </a:t>
            </a:r>
          </a:p>
          <a:p>
            <a:r>
              <a:rPr lang="en-NL" dirty="0"/>
              <a:t>10 JANUARY 2026</a:t>
            </a:r>
          </a:p>
        </p:txBody>
      </p:sp>
      <p:sp>
        <p:nvSpPr>
          <p:cNvPr id="10" name="Picture Placeholder 3">
            <a:extLst>
              <a:ext uri="{FF2B5EF4-FFF2-40B4-BE49-F238E27FC236}">
                <a16:creationId xmlns:a16="http://schemas.microsoft.com/office/drawing/2014/main" id="{7D2FBE14-ADDD-B50B-91CB-FC54A6FF988F}"/>
              </a:ext>
            </a:extLst>
          </p:cNvPr>
          <p:cNvSpPr>
            <a:spLocks noGrp="1"/>
          </p:cNvSpPr>
          <p:nvPr>
            <p:ph type="pic" sz="quarter" idx="13"/>
          </p:nvPr>
        </p:nvSpPr>
        <p:spPr>
          <a:xfrm>
            <a:off x="0" y="0"/>
            <a:ext cx="5067300" cy="6858000"/>
          </a:xfrm>
        </p:spPr>
        <p:txBody>
          <a:bodyPr/>
          <a:lstStyle/>
          <a:p>
            <a:endParaRPr lang="en-NL"/>
          </a:p>
        </p:txBody>
      </p:sp>
    </p:spTree>
    <p:extLst>
      <p:ext uri="{BB962C8B-B14F-4D97-AF65-F5344CB8AC3E}">
        <p14:creationId xmlns:p14="http://schemas.microsoft.com/office/powerpoint/2010/main" val="2658472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9016-44A6-1747-8681-EBF4E50D35DD}"/>
              </a:ext>
            </a:extLst>
          </p:cNvPr>
          <p:cNvSpPr>
            <a:spLocks noGrp="1"/>
          </p:cNvSpPr>
          <p:nvPr>
            <p:ph type="title"/>
          </p:nvPr>
        </p:nvSpPr>
        <p:spPr/>
        <p:txBody>
          <a:bodyPr/>
          <a:lstStyle/>
          <a:p>
            <a:r>
              <a:rPr lang="en-NL" dirty="0"/>
              <a:t>OUTLINE</a:t>
            </a:r>
          </a:p>
        </p:txBody>
      </p:sp>
      <p:sp>
        <p:nvSpPr>
          <p:cNvPr id="3" name="Content Placeholder 2">
            <a:extLst>
              <a:ext uri="{FF2B5EF4-FFF2-40B4-BE49-F238E27FC236}">
                <a16:creationId xmlns:a16="http://schemas.microsoft.com/office/drawing/2014/main" id="{AFE1A14A-E01D-0BC0-8836-65F711CEF3AA}"/>
              </a:ext>
            </a:extLst>
          </p:cNvPr>
          <p:cNvSpPr>
            <a:spLocks noGrp="1"/>
          </p:cNvSpPr>
          <p:nvPr>
            <p:ph idx="1"/>
          </p:nvPr>
        </p:nvSpPr>
        <p:spPr/>
        <p:txBody>
          <a:bodyPr/>
          <a:lstStyle/>
          <a:p>
            <a:r>
              <a:rPr lang="en-NL" dirty="0"/>
              <a:t>EXECUTIVE SUMMARY</a:t>
            </a:r>
          </a:p>
          <a:p>
            <a:r>
              <a:rPr lang="en-NL" dirty="0"/>
              <a:t>INTRODUCTION</a:t>
            </a:r>
          </a:p>
          <a:p>
            <a:r>
              <a:rPr lang="en-NL" dirty="0"/>
              <a:t>METHODOLOGY</a:t>
            </a:r>
          </a:p>
          <a:p>
            <a:r>
              <a:rPr lang="en-NL" dirty="0"/>
              <a:t>RESULT</a:t>
            </a:r>
          </a:p>
          <a:p>
            <a:r>
              <a:rPr lang="en-NL" dirty="0"/>
              <a:t>CONCLUSION</a:t>
            </a:r>
          </a:p>
          <a:p>
            <a:r>
              <a:rPr lang="en-NL" dirty="0"/>
              <a:t>APPENDIX</a:t>
            </a:r>
          </a:p>
        </p:txBody>
      </p:sp>
    </p:spTree>
    <p:extLst>
      <p:ext uri="{BB962C8B-B14F-4D97-AF65-F5344CB8AC3E}">
        <p14:creationId xmlns:p14="http://schemas.microsoft.com/office/powerpoint/2010/main" val="3090209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0A0CE-D608-78D5-F5E4-89A955DCFAA6}"/>
              </a:ext>
            </a:extLst>
          </p:cNvPr>
          <p:cNvSpPr>
            <a:spLocks noGrp="1"/>
          </p:cNvSpPr>
          <p:nvPr>
            <p:ph type="title"/>
          </p:nvPr>
        </p:nvSpPr>
        <p:spPr/>
        <p:txBody>
          <a:bodyPr/>
          <a:lstStyle/>
          <a:p>
            <a:r>
              <a:rPr lang="en-NL" dirty="0"/>
              <a:t>EXECUTIVE SUMMARY</a:t>
            </a:r>
          </a:p>
        </p:txBody>
      </p:sp>
      <p:sp>
        <p:nvSpPr>
          <p:cNvPr id="3" name="Content Placeholder 2">
            <a:extLst>
              <a:ext uri="{FF2B5EF4-FFF2-40B4-BE49-F238E27FC236}">
                <a16:creationId xmlns:a16="http://schemas.microsoft.com/office/drawing/2014/main" id="{25342B14-3F9A-7192-F5EC-AFF5A09475D3}"/>
              </a:ext>
            </a:extLst>
          </p:cNvPr>
          <p:cNvSpPr>
            <a:spLocks noGrp="1"/>
          </p:cNvSpPr>
          <p:nvPr>
            <p:ph idx="1"/>
          </p:nvPr>
        </p:nvSpPr>
        <p:spPr/>
        <p:txBody>
          <a:bodyPr/>
          <a:lstStyle/>
          <a:p>
            <a:r>
              <a:rPr lang="en-GB" dirty="0"/>
              <a:t>Collected data from public SpaceX API and SpaceX Wikipedia page. Created labels column ‘</a:t>
            </a:r>
            <a:r>
              <a:rPr lang="en-GB" dirty="0" err="1"/>
              <a:t>class’</a:t>
            </a:r>
            <a:r>
              <a:rPr lang="en-GB" dirty="0"/>
              <a:t> which classifies successful landings. Explored data using SQL, visualization, folium maps, and dashboards. Gathered relevant columns to be used as features. Changed all categorical variables to binary using one hot encoding. Standardized data and used </a:t>
            </a:r>
            <a:r>
              <a:rPr lang="en-GB" dirty="0" err="1"/>
              <a:t>GridSearchCV</a:t>
            </a:r>
            <a:r>
              <a:rPr lang="en-GB" dirty="0"/>
              <a:t> to find best parameters for machine learning models. Visualize accuracy score of all models.</a:t>
            </a:r>
          </a:p>
          <a:p>
            <a:r>
              <a:rPr lang="en-GB" dirty="0"/>
              <a:t>Four machine learning models were produced: Logistic Regression, Support Vector Machine, Decision Tree Classifier, and K Nearest </a:t>
            </a:r>
            <a:r>
              <a:rPr lang="en-GB" dirty="0" err="1"/>
              <a:t>Neighbors</a:t>
            </a:r>
            <a:r>
              <a:rPr lang="en-GB" dirty="0"/>
              <a:t>. All produced similar results with accuracy rate of about 83.33%. All models over predicted successful landings. More data is needed for better model determination and accuracy.</a:t>
            </a:r>
            <a:r>
              <a:rPr lang="en-NL" dirty="0"/>
              <a:t>,  </a:t>
            </a:r>
          </a:p>
        </p:txBody>
      </p:sp>
    </p:spTree>
    <p:extLst>
      <p:ext uri="{BB962C8B-B14F-4D97-AF65-F5344CB8AC3E}">
        <p14:creationId xmlns:p14="http://schemas.microsoft.com/office/powerpoint/2010/main" val="102045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D761-23FD-6556-1961-A5D4C8E582A0}"/>
              </a:ext>
            </a:extLst>
          </p:cNvPr>
          <p:cNvSpPr>
            <a:spLocks noGrp="1"/>
          </p:cNvSpPr>
          <p:nvPr>
            <p:ph type="title"/>
          </p:nvPr>
        </p:nvSpPr>
        <p:spPr/>
        <p:txBody>
          <a:bodyPr/>
          <a:lstStyle/>
          <a:p>
            <a:r>
              <a:rPr lang="en-GB" dirty="0"/>
              <a:t>Introduction</a:t>
            </a:r>
            <a:endParaRPr lang="en-NL" dirty="0"/>
          </a:p>
        </p:txBody>
      </p:sp>
      <p:sp>
        <p:nvSpPr>
          <p:cNvPr id="3" name="Content Placeholder 2">
            <a:extLst>
              <a:ext uri="{FF2B5EF4-FFF2-40B4-BE49-F238E27FC236}">
                <a16:creationId xmlns:a16="http://schemas.microsoft.com/office/drawing/2014/main" id="{7EB8E6A8-F22F-2C82-AFAE-60497BB3958D}"/>
              </a:ext>
            </a:extLst>
          </p:cNvPr>
          <p:cNvSpPr>
            <a:spLocks noGrp="1"/>
          </p:cNvSpPr>
          <p:nvPr>
            <p:ph idx="1"/>
          </p:nvPr>
        </p:nvSpPr>
        <p:spPr/>
        <p:txBody>
          <a:bodyPr/>
          <a:lstStyle/>
          <a:p>
            <a:r>
              <a:rPr lang="en-GB" dirty="0"/>
              <a:t>Background: • Commercial Space Age is Here • Space X has best pricing ($62 million vs. $165 million USD) • Largely due to ability to recover part of rocket (Stage 1) • Space Y wants to compete with Space X</a:t>
            </a:r>
          </a:p>
          <a:p>
            <a:endParaRPr lang="en-GB" dirty="0"/>
          </a:p>
          <a:p>
            <a:r>
              <a:rPr lang="en-GB" dirty="0"/>
              <a:t>Problem: • Space Y tasks us to train a machine learning model to predict successful Stage 1 recovery</a:t>
            </a:r>
            <a:endParaRPr lang="en-NL" dirty="0"/>
          </a:p>
        </p:txBody>
      </p:sp>
    </p:spTree>
    <p:extLst>
      <p:ext uri="{BB962C8B-B14F-4D97-AF65-F5344CB8AC3E}">
        <p14:creationId xmlns:p14="http://schemas.microsoft.com/office/powerpoint/2010/main" val="2609451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261D-B380-FDB9-C03D-1590B78DD00D}"/>
              </a:ext>
            </a:extLst>
          </p:cNvPr>
          <p:cNvSpPr>
            <a:spLocks noGrp="1"/>
          </p:cNvSpPr>
          <p:nvPr>
            <p:ph type="title"/>
          </p:nvPr>
        </p:nvSpPr>
        <p:spPr/>
        <p:txBody>
          <a:bodyPr/>
          <a:lstStyle/>
          <a:p>
            <a:r>
              <a:rPr lang="en-GB" dirty="0"/>
              <a:t>Methodology</a:t>
            </a:r>
            <a:endParaRPr lang="en-NL" dirty="0"/>
          </a:p>
        </p:txBody>
      </p:sp>
      <p:sp>
        <p:nvSpPr>
          <p:cNvPr id="3" name="Content Placeholder 2">
            <a:extLst>
              <a:ext uri="{FF2B5EF4-FFF2-40B4-BE49-F238E27FC236}">
                <a16:creationId xmlns:a16="http://schemas.microsoft.com/office/drawing/2014/main" id="{122BF3CB-ED32-1EDF-86E4-19F53142F81D}"/>
              </a:ext>
            </a:extLst>
          </p:cNvPr>
          <p:cNvSpPr>
            <a:spLocks noGrp="1"/>
          </p:cNvSpPr>
          <p:nvPr>
            <p:ph idx="1"/>
          </p:nvPr>
        </p:nvSpPr>
        <p:spPr/>
        <p:txBody>
          <a:bodyPr/>
          <a:lstStyle/>
          <a:p>
            <a:r>
              <a:rPr lang="en-GB" dirty="0"/>
              <a:t> • Data collection methodology: </a:t>
            </a:r>
          </a:p>
          <a:p>
            <a:r>
              <a:rPr lang="en-GB" dirty="0"/>
              <a:t>• Combined data from SpaceX public API and SpaceX Wikipedia page </a:t>
            </a:r>
          </a:p>
          <a:p>
            <a:r>
              <a:rPr lang="en-GB" dirty="0"/>
              <a:t>• Perform data wrangling </a:t>
            </a:r>
          </a:p>
          <a:p>
            <a:r>
              <a:rPr lang="en-GB" dirty="0"/>
              <a:t>• Classifying true landings as successful and unsuccessful otherwise </a:t>
            </a:r>
          </a:p>
          <a:p>
            <a:r>
              <a:rPr lang="en-GB" dirty="0"/>
              <a:t>• Perform exploratory data analysis (EDA) using visualization and SQL </a:t>
            </a:r>
          </a:p>
          <a:p>
            <a:r>
              <a:rPr lang="en-GB" dirty="0"/>
              <a:t>• Perform interactive visual analytics using Folium and </a:t>
            </a:r>
            <a:r>
              <a:rPr lang="en-GB" dirty="0" err="1"/>
              <a:t>Plotly</a:t>
            </a:r>
            <a:r>
              <a:rPr lang="en-GB" dirty="0"/>
              <a:t> Dash </a:t>
            </a:r>
          </a:p>
          <a:p>
            <a:r>
              <a:rPr lang="en-GB" dirty="0"/>
              <a:t>• Perform predictive analysis using classification models </a:t>
            </a:r>
          </a:p>
          <a:p>
            <a:r>
              <a:rPr lang="en-GB" dirty="0"/>
              <a:t>• Tuned models using </a:t>
            </a:r>
            <a:r>
              <a:rPr lang="en-GB" dirty="0" err="1"/>
              <a:t>GridSearchCV</a:t>
            </a:r>
            <a:endParaRPr lang="en-NL" dirty="0"/>
          </a:p>
        </p:txBody>
      </p:sp>
    </p:spTree>
    <p:extLst>
      <p:ext uri="{BB962C8B-B14F-4D97-AF65-F5344CB8AC3E}">
        <p14:creationId xmlns:p14="http://schemas.microsoft.com/office/powerpoint/2010/main" val="174054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6B956-4D3E-CE3A-12F0-E8469E85388B}"/>
              </a:ext>
            </a:extLst>
          </p:cNvPr>
          <p:cNvSpPr>
            <a:spLocks noGrp="1"/>
          </p:cNvSpPr>
          <p:nvPr>
            <p:ph type="title"/>
          </p:nvPr>
        </p:nvSpPr>
        <p:spPr/>
        <p:txBody>
          <a:bodyPr/>
          <a:lstStyle/>
          <a:p>
            <a:r>
              <a:rPr lang="en-GB" dirty="0"/>
              <a:t>Data Collection Overview</a:t>
            </a:r>
            <a:endParaRPr lang="en-NL" dirty="0"/>
          </a:p>
        </p:txBody>
      </p:sp>
      <p:sp>
        <p:nvSpPr>
          <p:cNvPr id="3" name="Content Placeholder 2">
            <a:extLst>
              <a:ext uri="{FF2B5EF4-FFF2-40B4-BE49-F238E27FC236}">
                <a16:creationId xmlns:a16="http://schemas.microsoft.com/office/drawing/2014/main" id="{A150936F-9847-8C4A-D071-C37971D0A9D4}"/>
              </a:ext>
            </a:extLst>
          </p:cNvPr>
          <p:cNvSpPr>
            <a:spLocks noGrp="1"/>
          </p:cNvSpPr>
          <p:nvPr>
            <p:ph idx="1"/>
          </p:nvPr>
        </p:nvSpPr>
        <p:spPr/>
        <p:txBody>
          <a:bodyPr/>
          <a:lstStyle/>
          <a:p>
            <a:r>
              <a:rPr lang="en-GB" dirty="0" err="1"/>
              <a:t>verview</a:t>
            </a:r>
            <a:r>
              <a:rPr lang="en-GB" dirty="0"/>
              <a:t> 7 Data collection process involved a combination of API requests from Space X public API and web scraping data from a table in Space X’s Wikipedia entry. The next slide will show the flowchart of data collection from API and the one after will show the flowchart of data collection from </a:t>
            </a:r>
            <a:r>
              <a:rPr lang="en-GB" dirty="0" err="1"/>
              <a:t>webscraping</a:t>
            </a:r>
            <a:r>
              <a:rPr lang="en-GB" dirty="0"/>
              <a:t>. Space X API Data Columns: </a:t>
            </a:r>
            <a:r>
              <a:rPr lang="en-GB" dirty="0" err="1"/>
              <a:t>FlightNumber</a:t>
            </a:r>
            <a:r>
              <a:rPr lang="en-GB" dirty="0"/>
              <a:t>, Date, </a:t>
            </a:r>
            <a:r>
              <a:rPr lang="en-GB" dirty="0" err="1"/>
              <a:t>BoosterVersion</a:t>
            </a:r>
            <a:r>
              <a:rPr lang="en-GB" dirty="0"/>
              <a:t>, </a:t>
            </a:r>
            <a:r>
              <a:rPr lang="en-GB" dirty="0" err="1"/>
              <a:t>PayloadMass</a:t>
            </a:r>
            <a:r>
              <a:rPr lang="en-GB" dirty="0"/>
              <a:t>, Orbit, </a:t>
            </a:r>
            <a:r>
              <a:rPr lang="en-GB" dirty="0" err="1"/>
              <a:t>LaunchSite</a:t>
            </a:r>
            <a:r>
              <a:rPr lang="en-GB" dirty="0"/>
              <a:t>, Outcome, Flights, </a:t>
            </a:r>
            <a:r>
              <a:rPr lang="en-GB" dirty="0" err="1"/>
              <a:t>GridFins</a:t>
            </a:r>
            <a:r>
              <a:rPr lang="en-GB" dirty="0"/>
              <a:t>, Reused, Legs, </a:t>
            </a:r>
            <a:r>
              <a:rPr lang="en-GB" dirty="0" err="1"/>
              <a:t>LandingPad</a:t>
            </a:r>
            <a:r>
              <a:rPr lang="en-GB" dirty="0"/>
              <a:t>, Block, </a:t>
            </a:r>
            <a:r>
              <a:rPr lang="en-GB" dirty="0" err="1"/>
              <a:t>ReusedCount</a:t>
            </a:r>
            <a:r>
              <a:rPr lang="en-GB" dirty="0"/>
              <a:t>, Serial, Longitude, Latitude Wikipedia </a:t>
            </a:r>
            <a:r>
              <a:rPr lang="en-GB" dirty="0" err="1"/>
              <a:t>Webscrape</a:t>
            </a:r>
            <a:r>
              <a:rPr lang="en-GB" dirty="0"/>
              <a:t> Data Columns: Flight No., Launch site, Payload, </a:t>
            </a:r>
            <a:r>
              <a:rPr lang="en-GB" dirty="0" err="1"/>
              <a:t>PayloadMass</a:t>
            </a:r>
            <a:r>
              <a:rPr lang="en-GB" dirty="0"/>
              <a:t>, Orbit, Customer, Launch outcome, Version Booster, Booster landing, Date, Time</a:t>
            </a:r>
            <a:endParaRPr lang="en-NL" dirty="0"/>
          </a:p>
        </p:txBody>
      </p:sp>
    </p:spTree>
    <p:extLst>
      <p:ext uri="{BB962C8B-B14F-4D97-AF65-F5344CB8AC3E}">
        <p14:creationId xmlns:p14="http://schemas.microsoft.com/office/powerpoint/2010/main" val="3529450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49EC-7A70-76D5-8E5C-D85206B102B9}"/>
              </a:ext>
            </a:extLst>
          </p:cNvPr>
          <p:cNvSpPr>
            <a:spLocks noGrp="1"/>
          </p:cNvSpPr>
          <p:nvPr>
            <p:ph type="title"/>
          </p:nvPr>
        </p:nvSpPr>
        <p:spPr/>
        <p:txBody>
          <a:bodyPr/>
          <a:lstStyle/>
          <a:p>
            <a:r>
              <a:rPr lang="en-GB" dirty="0"/>
              <a:t>Data Wrangling</a:t>
            </a:r>
            <a:endParaRPr lang="en-NL" dirty="0"/>
          </a:p>
        </p:txBody>
      </p:sp>
      <p:sp>
        <p:nvSpPr>
          <p:cNvPr id="3" name="Content Placeholder 2">
            <a:extLst>
              <a:ext uri="{FF2B5EF4-FFF2-40B4-BE49-F238E27FC236}">
                <a16:creationId xmlns:a16="http://schemas.microsoft.com/office/drawing/2014/main" id="{A5CE619D-F22D-AE25-0F52-937BDC6B5536}"/>
              </a:ext>
            </a:extLst>
          </p:cNvPr>
          <p:cNvSpPr>
            <a:spLocks noGrp="1"/>
          </p:cNvSpPr>
          <p:nvPr>
            <p:ph idx="1"/>
          </p:nvPr>
        </p:nvSpPr>
        <p:spPr/>
        <p:txBody>
          <a:bodyPr/>
          <a:lstStyle/>
          <a:p>
            <a:r>
              <a:rPr lang="en-GB" dirty="0"/>
              <a:t>Create a training label with landing outcomes where successful = 1 &amp; failure = 0. Outcome column has two components: ‘Mission Outcome’ ‘Landing Location’ New training label column ‘</a:t>
            </a:r>
            <a:r>
              <a:rPr lang="en-GB" dirty="0" err="1"/>
              <a:t>class’</a:t>
            </a:r>
            <a:r>
              <a:rPr lang="en-GB" dirty="0"/>
              <a:t> with a value of 1 if ‘Mission Outcome’ is True and 0 otherwise. Value Mapping: True ASDS, True RTLS, &amp; True Ocean – set to -&gt; 1 None None, False ASDS, None ASDS, False Ocean, False RTLS – set to -&gt; 0</a:t>
            </a:r>
            <a:endParaRPr lang="en-NL" dirty="0"/>
          </a:p>
        </p:txBody>
      </p:sp>
    </p:spTree>
    <p:extLst>
      <p:ext uri="{BB962C8B-B14F-4D97-AF65-F5344CB8AC3E}">
        <p14:creationId xmlns:p14="http://schemas.microsoft.com/office/powerpoint/2010/main" val="3153708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FEB1-8A54-34BD-4ED8-D1E77704171D}"/>
              </a:ext>
            </a:extLst>
          </p:cNvPr>
          <p:cNvSpPr>
            <a:spLocks noGrp="1"/>
          </p:cNvSpPr>
          <p:nvPr>
            <p:ph type="title"/>
          </p:nvPr>
        </p:nvSpPr>
        <p:spPr/>
        <p:txBody>
          <a:bodyPr/>
          <a:lstStyle/>
          <a:p>
            <a:r>
              <a:rPr lang="en-GB" dirty="0"/>
              <a:t>EDA with Data Visualization</a:t>
            </a:r>
            <a:endParaRPr lang="en-NL" dirty="0"/>
          </a:p>
        </p:txBody>
      </p:sp>
      <p:sp>
        <p:nvSpPr>
          <p:cNvPr id="3" name="Content Placeholder 2">
            <a:extLst>
              <a:ext uri="{FF2B5EF4-FFF2-40B4-BE49-F238E27FC236}">
                <a16:creationId xmlns:a16="http://schemas.microsoft.com/office/drawing/2014/main" id="{0C71BC32-47D5-E8A2-0EB2-F6E1EC99C07D}"/>
              </a:ext>
            </a:extLst>
          </p:cNvPr>
          <p:cNvSpPr>
            <a:spLocks noGrp="1"/>
          </p:cNvSpPr>
          <p:nvPr>
            <p:ph idx="1"/>
          </p:nvPr>
        </p:nvSpPr>
        <p:spPr/>
        <p:txBody>
          <a:bodyPr/>
          <a:lstStyle/>
          <a:p>
            <a:r>
              <a:rPr lang="en-GB" dirty="0"/>
              <a:t>Exploratory Data Analysis performed on variables Flight Number, Payload Mass, Launch Site, Orbit, Class and Year. Plots Used: Flight Number vs. Payload Mass, Flight Number vs. Launch Site, Payload Mass vs. Launch Site, Orbit vs. Success Rate, Flight Number vs. Orbit, Payload vs Orbit, and Success Yearly Trend Scatter plots, line charts, and bar plots were used to compare relationships between variables to decide if a relationship exists so that they could be used in training the machine learning model</a:t>
            </a:r>
            <a:endParaRPr lang="en-NL" dirty="0"/>
          </a:p>
        </p:txBody>
      </p:sp>
    </p:spTree>
    <p:extLst>
      <p:ext uri="{BB962C8B-B14F-4D97-AF65-F5344CB8AC3E}">
        <p14:creationId xmlns:p14="http://schemas.microsoft.com/office/powerpoint/2010/main" val="1975825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A78D7-21D9-DBBB-7F78-33F0E065ED38}"/>
              </a:ext>
            </a:extLst>
          </p:cNvPr>
          <p:cNvSpPr>
            <a:spLocks noGrp="1"/>
          </p:cNvSpPr>
          <p:nvPr>
            <p:ph type="title"/>
          </p:nvPr>
        </p:nvSpPr>
        <p:spPr/>
        <p:txBody>
          <a:bodyPr/>
          <a:lstStyle/>
          <a:p>
            <a:r>
              <a:rPr lang="en-GB" dirty="0"/>
              <a:t>EDA with SQL</a:t>
            </a:r>
            <a:endParaRPr lang="en-NL" dirty="0"/>
          </a:p>
        </p:txBody>
      </p:sp>
      <p:sp>
        <p:nvSpPr>
          <p:cNvPr id="3" name="Content Placeholder 2">
            <a:extLst>
              <a:ext uri="{FF2B5EF4-FFF2-40B4-BE49-F238E27FC236}">
                <a16:creationId xmlns:a16="http://schemas.microsoft.com/office/drawing/2014/main" id="{350F2385-87DB-E2D0-99CE-13A2359F4B70}"/>
              </a:ext>
            </a:extLst>
          </p:cNvPr>
          <p:cNvSpPr>
            <a:spLocks noGrp="1"/>
          </p:cNvSpPr>
          <p:nvPr>
            <p:ph idx="1"/>
          </p:nvPr>
        </p:nvSpPr>
        <p:spPr/>
        <p:txBody>
          <a:bodyPr/>
          <a:lstStyle/>
          <a:p>
            <a:r>
              <a:rPr lang="en-GB" dirty="0"/>
              <a:t>Loaded data set into IBM DB2 Database. Queried using SQL Python integration. Queries were made to get a better understanding of the dataset. Queried information about launch site names, mission outcomes, various pay load sizes of customers and booster versions, and landing outcomes</a:t>
            </a:r>
            <a:endParaRPr lang="en-NL" dirty="0"/>
          </a:p>
        </p:txBody>
      </p:sp>
    </p:spTree>
    <p:extLst>
      <p:ext uri="{BB962C8B-B14F-4D97-AF65-F5344CB8AC3E}">
        <p14:creationId xmlns:p14="http://schemas.microsoft.com/office/powerpoint/2010/main" val="426142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96A1A-C415-F529-A1F3-FF77DE3E3CC0}"/>
              </a:ext>
            </a:extLst>
          </p:cNvPr>
          <p:cNvSpPr>
            <a:spLocks noGrp="1"/>
          </p:cNvSpPr>
          <p:nvPr>
            <p:ph type="title"/>
          </p:nvPr>
        </p:nvSpPr>
        <p:spPr/>
        <p:txBody>
          <a:bodyPr/>
          <a:lstStyle/>
          <a:p>
            <a:r>
              <a:rPr lang="en-GB" dirty="0"/>
              <a:t>Build an interactive map with Folium</a:t>
            </a:r>
            <a:endParaRPr lang="en-NL" dirty="0"/>
          </a:p>
        </p:txBody>
      </p:sp>
      <p:sp>
        <p:nvSpPr>
          <p:cNvPr id="3" name="Content Placeholder 2">
            <a:extLst>
              <a:ext uri="{FF2B5EF4-FFF2-40B4-BE49-F238E27FC236}">
                <a16:creationId xmlns:a16="http://schemas.microsoft.com/office/drawing/2014/main" id="{1738E928-4AC6-F4F7-950B-480243B89A31}"/>
              </a:ext>
            </a:extLst>
          </p:cNvPr>
          <p:cNvSpPr>
            <a:spLocks noGrp="1"/>
          </p:cNvSpPr>
          <p:nvPr>
            <p:ph idx="1"/>
          </p:nvPr>
        </p:nvSpPr>
        <p:spPr/>
        <p:txBody>
          <a:bodyPr/>
          <a:lstStyle/>
          <a:p>
            <a:r>
              <a:rPr lang="en-GB" dirty="0"/>
              <a:t>Folium maps mark Launch Sites, successful and unsuccessful landings, and a proximity example to key locations: Railway, Highway, Coast, and City. This allows us to understand why launch sites may be located where they are. Also visualizes successful landings relative to location.</a:t>
            </a:r>
            <a:endParaRPr lang="en-NL" dirty="0"/>
          </a:p>
        </p:txBody>
      </p:sp>
    </p:spTree>
    <p:extLst>
      <p:ext uri="{BB962C8B-B14F-4D97-AF65-F5344CB8AC3E}">
        <p14:creationId xmlns:p14="http://schemas.microsoft.com/office/powerpoint/2010/main" val="782079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DB65-1ECD-B3B5-BBA3-0A0B1CC2E3E3}"/>
              </a:ext>
            </a:extLst>
          </p:cNvPr>
          <p:cNvSpPr>
            <a:spLocks noGrp="1"/>
          </p:cNvSpPr>
          <p:nvPr>
            <p:ph type="title"/>
          </p:nvPr>
        </p:nvSpPr>
        <p:spPr/>
        <p:txBody>
          <a:bodyPr/>
          <a:lstStyle/>
          <a:p>
            <a:r>
              <a:rPr lang="en-GB" dirty="0"/>
              <a:t>Build a Dashboard with </a:t>
            </a:r>
            <a:r>
              <a:rPr lang="en-GB" dirty="0" err="1"/>
              <a:t>Plotly</a:t>
            </a:r>
            <a:r>
              <a:rPr lang="en-GB" dirty="0"/>
              <a:t> Dash</a:t>
            </a:r>
            <a:endParaRPr lang="en-NL" dirty="0"/>
          </a:p>
        </p:txBody>
      </p:sp>
      <p:sp>
        <p:nvSpPr>
          <p:cNvPr id="3" name="Content Placeholder 2">
            <a:extLst>
              <a:ext uri="{FF2B5EF4-FFF2-40B4-BE49-F238E27FC236}">
                <a16:creationId xmlns:a16="http://schemas.microsoft.com/office/drawing/2014/main" id="{C4721701-39F6-9206-9E51-4917AD64F2E9}"/>
              </a:ext>
            </a:extLst>
          </p:cNvPr>
          <p:cNvSpPr>
            <a:spLocks noGrp="1"/>
          </p:cNvSpPr>
          <p:nvPr>
            <p:ph idx="1"/>
          </p:nvPr>
        </p:nvSpPr>
        <p:spPr/>
        <p:txBody>
          <a:bodyPr/>
          <a:lstStyle/>
          <a:p>
            <a:r>
              <a:rPr lang="en-GB" dirty="0"/>
              <a:t>Dashboard includes a pie chart and a scatter plot. Pie chart can be selected to show distribution of successful landings across all launch sites and can be selected to show individual launch site success rates. Scatter plot takes two inputs: All sites or individual site and payload mass on a slider between 0 and 10000 kg. The pie chart is used to visualize launch site success rate. The scatter plot can help us see how success varies across launch sites, payload mass, and booster version category.</a:t>
            </a:r>
            <a:endParaRPr lang="en-NL" dirty="0"/>
          </a:p>
        </p:txBody>
      </p:sp>
    </p:spTree>
    <p:extLst>
      <p:ext uri="{BB962C8B-B14F-4D97-AF65-F5344CB8AC3E}">
        <p14:creationId xmlns:p14="http://schemas.microsoft.com/office/powerpoint/2010/main" val="64406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5B023-1741-D9E4-98AF-EE80B083F0B4}"/>
              </a:ext>
            </a:extLst>
          </p:cNvPr>
          <p:cNvSpPr>
            <a:spLocks noGrp="1"/>
          </p:cNvSpPr>
          <p:nvPr>
            <p:ph type="title"/>
          </p:nvPr>
        </p:nvSpPr>
        <p:spPr/>
        <p:txBody>
          <a:bodyPr/>
          <a:lstStyle/>
          <a:p>
            <a:r>
              <a:rPr lang="en-GB" dirty="0"/>
              <a:t>Predictive analysis (Classification)</a:t>
            </a:r>
            <a:endParaRPr lang="en-NL" dirty="0"/>
          </a:p>
        </p:txBody>
      </p:sp>
      <p:pic>
        <p:nvPicPr>
          <p:cNvPr id="5" name="Content Placeholder 4" descr="A pie chart with a pie chart&#10;&#10;AI-generated content may be incorrect.">
            <a:extLst>
              <a:ext uri="{FF2B5EF4-FFF2-40B4-BE49-F238E27FC236}">
                <a16:creationId xmlns:a16="http://schemas.microsoft.com/office/drawing/2014/main" id="{54E8D664-B1A8-167A-BF69-017A2A4DC541}"/>
              </a:ext>
            </a:extLst>
          </p:cNvPr>
          <p:cNvPicPr>
            <a:picLocks noGrp="1" noChangeAspect="1"/>
          </p:cNvPicPr>
          <p:nvPr>
            <p:ph idx="1"/>
          </p:nvPr>
        </p:nvPicPr>
        <p:blipFill>
          <a:blip r:embed="rId2"/>
          <a:stretch>
            <a:fillRect/>
          </a:stretch>
        </p:blipFill>
        <p:spPr>
          <a:xfrm>
            <a:off x="2148329" y="1563688"/>
            <a:ext cx="6220829" cy="3667218"/>
          </a:xfrm>
        </p:spPr>
      </p:pic>
      <p:sp>
        <p:nvSpPr>
          <p:cNvPr id="7" name="TextBox 6">
            <a:extLst>
              <a:ext uri="{FF2B5EF4-FFF2-40B4-BE49-F238E27FC236}">
                <a16:creationId xmlns:a16="http://schemas.microsoft.com/office/drawing/2014/main" id="{BFDEC09E-4496-2017-7CE1-C4D1946512B7}"/>
              </a:ext>
            </a:extLst>
          </p:cNvPr>
          <p:cNvSpPr txBox="1"/>
          <p:nvPr/>
        </p:nvSpPr>
        <p:spPr>
          <a:xfrm>
            <a:off x="2148329" y="5230906"/>
            <a:ext cx="6098240" cy="1200329"/>
          </a:xfrm>
          <a:prstGeom prst="rect">
            <a:avLst/>
          </a:prstGeom>
          <a:noFill/>
        </p:spPr>
        <p:txBody>
          <a:bodyPr wrap="square">
            <a:spAutoFit/>
          </a:bodyPr>
          <a:lstStyle/>
          <a:p>
            <a:r>
              <a:rPr lang="en-GB" dirty="0"/>
              <a:t>This is a preview of the </a:t>
            </a:r>
            <a:r>
              <a:rPr lang="en-GB" dirty="0" err="1"/>
              <a:t>Plotly</a:t>
            </a:r>
            <a:r>
              <a:rPr lang="en-GB" dirty="0"/>
              <a:t> dashboard. The following sides will show the results of EDA with visualization, EDA with SQL, Interactive Map with Folium, and finally the results of our model with about 83% accuracy.</a:t>
            </a:r>
            <a:endParaRPr lang="en-NL" dirty="0"/>
          </a:p>
        </p:txBody>
      </p:sp>
    </p:spTree>
    <p:extLst>
      <p:ext uri="{BB962C8B-B14F-4D97-AF65-F5344CB8AC3E}">
        <p14:creationId xmlns:p14="http://schemas.microsoft.com/office/powerpoint/2010/main" val="125480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657A6-CCD1-E7F2-0947-5221969D9438}"/>
              </a:ext>
            </a:extLst>
          </p:cNvPr>
          <p:cNvSpPr>
            <a:spLocks noGrp="1"/>
          </p:cNvSpPr>
          <p:nvPr>
            <p:ph type="title"/>
          </p:nvPr>
        </p:nvSpPr>
        <p:spPr/>
        <p:txBody>
          <a:bodyPr/>
          <a:lstStyle/>
          <a:p>
            <a:r>
              <a:rPr lang="en-GB" dirty="0"/>
              <a:t>E D A with Visualization</a:t>
            </a:r>
            <a:endParaRPr lang="en-NL" dirty="0"/>
          </a:p>
        </p:txBody>
      </p:sp>
      <p:sp>
        <p:nvSpPr>
          <p:cNvPr id="3" name="Content Placeholder 2">
            <a:extLst>
              <a:ext uri="{FF2B5EF4-FFF2-40B4-BE49-F238E27FC236}">
                <a16:creationId xmlns:a16="http://schemas.microsoft.com/office/drawing/2014/main" id="{B77E2AC1-5598-BCDC-3751-A453BEAB6C85}"/>
              </a:ext>
            </a:extLst>
          </p:cNvPr>
          <p:cNvSpPr>
            <a:spLocks noGrp="1"/>
          </p:cNvSpPr>
          <p:nvPr>
            <p:ph idx="1"/>
          </p:nvPr>
        </p:nvSpPr>
        <p:spPr>
          <a:xfrm>
            <a:off x="1033272" y="1563624"/>
            <a:ext cx="9985248" cy="3842094"/>
          </a:xfrm>
        </p:spPr>
        <p:txBody>
          <a:bodyPr/>
          <a:lstStyle/>
          <a:p>
            <a:r>
              <a:rPr lang="en-GB" dirty="0"/>
              <a:t>Visualization 17 EXPLORATORY DATA ANALYSIS WITH SEABORN PLOTS</a:t>
            </a:r>
          </a:p>
          <a:p>
            <a:endParaRPr lang="en-GB" dirty="0"/>
          </a:p>
          <a:p>
            <a:r>
              <a:rPr lang="en-GB" dirty="0"/>
              <a:t>Flight Number vs. Launch Site</a:t>
            </a:r>
          </a:p>
          <a:p>
            <a:endParaRPr lang="en-GB" dirty="0"/>
          </a:p>
          <a:p>
            <a:endParaRPr lang="en-GB" dirty="0"/>
          </a:p>
          <a:p>
            <a:endParaRPr lang="en-GB" dirty="0"/>
          </a:p>
          <a:p>
            <a:endParaRPr lang="en-GB" dirty="0"/>
          </a:p>
          <a:p>
            <a:r>
              <a:rPr lang="en-GB" dirty="0"/>
              <a:t>Green indicates successful launch; Purple indicates unsuccessful launch</a:t>
            </a:r>
            <a:endParaRPr lang="en-NL" dirty="0"/>
          </a:p>
        </p:txBody>
      </p:sp>
      <p:pic>
        <p:nvPicPr>
          <p:cNvPr id="5" name="Picture 4" descr="A graph showing a number of dots&#10;&#10;AI-generated content may be incorrect.">
            <a:extLst>
              <a:ext uri="{FF2B5EF4-FFF2-40B4-BE49-F238E27FC236}">
                <a16:creationId xmlns:a16="http://schemas.microsoft.com/office/drawing/2014/main" id="{62196CB9-79A8-4647-7BA5-9DA305719A1F}"/>
              </a:ext>
            </a:extLst>
          </p:cNvPr>
          <p:cNvPicPr>
            <a:picLocks noChangeAspect="1"/>
          </p:cNvPicPr>
          <p:nvPr/>
        </p:nvPicPr>
        <p:blipFill>
          <a:blip r:embed="rId2"/>
          <a:stretch>
            <a:fillRect/>
          </a:stretch>
        </p:blipFill>
        <p:spPr>
          <a:xfrm>
            <a:off x="1033272" y="2989487"/>
            <a:ext cx="9348685" cy="1720274"/>
          </a:xfrm>
          <a:prstGeom prst="rect">
            <a:avLst/>
          </a:prstGeom>
        </p:spPr>
      </p:pic>
    </p:spTree>
    <p:extLst>
      <p:ext uri="{BB962C8B-B14F-4D97-AF65-F5344CB8AC3E}">
        <p14:creationId xmlns:p14="http://schemas.microsoft.com/office/powerpoint/2010/main" val="3797621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7ED0-40D6-0B92-2650-81D549898451}"/>
              </a:ext>
            </a:extLst>
          </p:cNvPr>
          <p:cNvSpPr>
            <a:spLocks noGrp="1"/>
          </p:cNvSpPr>
          <p:nvPr>
            <p:ph type="title"/>
          </p:nvPr>
        </p:nvSpPr>
        <p:spPr/>
        <p:txBody>
          <a:bodyPr/>
          <a:lstStyle/>
          <a:p>
            <a:r>
              <a:rPr lang="en-GB" dirty="0"/>
              <a:t>Payload vs. Launch Site</a:t>
            </a:r>
            <a:endParaRPr lang="en-NL" dirty="0"/>
          </a:p>
        </p:txBody>
      </p:sp>
      <p:pic>
        <p:nvPicPr>
          <p:cNvPr id="5" name="Content Placeholder 4" descr="A graph showing a number of green and blue dots&#10;&#10;AI-generated content may be incorrect.">
            <a:extLst>
              <a:ext uri="{FF2B5EF4-FFF2-40B4-BE49-F238E27FC236}">
                <a16:creationId xmlns:a16="http://schemas.microsoft.com/office/drawing/2014/main" id="{FE3B84A8-701F-30D1-02A3-25D453880323}"/>
              </a:ext>
            </a:extLst>
          </p:cNvPr>
          <p:cNvPicPr>
            <a:picLocks noGrp="1" noChangeAspect="1"/>
          </p:cNvPicPr>
          <p:nvPr>
            <p:ph idx="1"/>
          </p:nvPr>
        </p:nvPicPr>
        <p:blipFill>
          <a:blip r:embed="rId2"/>
          <a:stretch>
            <a:fillRect/>
          </a:stretch>
        </p:blipFill>
        <p:spPr>
          <a:xfrm>
            <a:off x="1033145" y="2009821"/>
            <a:ext cx="9985375" cy="2210074"/>
          </a:xfrm>
        </p:spPr>
      </p:pic>
      <p:sp>
        <p:nvSpPr>
          <p:cNvPr id="7" name="TextBox 6">
            <a:extLst>
              <a:ext uri="{FF2B5EF4-FFF2-40B4-BE49-F238E27FC236}">
                <a16:creationId xmlns:a16="http://schemas.microsoft.com/office/drawing/2014/main" id="{58A4546B-AC05-5B85-CB06-3DCDE46A5E22}"/>
              </a:ext>
            </a:extLst>
          </p:cNvPr>
          <p:cNvSpPr txBox="1"/>
          <p:nvPr/>
        </p:nvSpPr>
        <p:spPr>
          <a:xfrm>
            <a:off x="1033145" y="4275793"/>
            <a:ext cx="9442114" cy="369332"/>
          </a:xfrm>
          <a:prstGeom prst="rect">
            <a:avLst/>
          </a:prstGeom>
          <a:noFill/>
        </p:spPr>
        <p:txBody>
          <a:bodyPr wrap="square">
            <a:spAutoFit/>
          </a:bodyPr>
          <a:lstStyle/>
          <a:p>
            <a:r>
              <a:rPr lang="en-GB" dirty="0"/>
              <a:t>Green indicates successful launch; Purple indicates unsuccessful launch.</a:t>
            </a:r>
            <a:endParaRPr lang="en-NL" dirty="0"/>
          </a:p>
        </p:txBody>
      </p:sp>
    </p:spTree>
    <p:extLst>
      <p:ext uri="{BB962C8B-B14F-4D97-AF65-F5344CB8AC3E}">
        <p14:creationId xmlns:p14="http://schemas.microsoft.com/office/powerpoint/2010/main" val="202781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2AE00-2621-AFDD-86AE-4E6F2B6DAAC6}"/>
              </a:ext>
            </a:extLst>
          </p:cNvPr>
          <p:cNvSpPr>
            <a:spLocks noGrp="1"/>
          </p:cNvSpPr>
          <p:nvPr>
            <p:ph type="title"/>
          </p:nvPr>
        </p:nvSpPr>
        <p:spPr/>
        <p:txBody>
          <a:bodyPr/>
          <a:lstStyle/>
          <a:p>
            <a:r>
              <a:rPr lang="en-GB" dirty="0"/>
              <a:t>Success rate vs. Orbit type</a:t>
            </a:r>
            <a:endParaRPr lang="en-NL" dirty="0"/>
          </a:p>
        </p:txBody>
      </p:sp>
      <p:pic>
        <p:nvPicPr>
          <p:cNvPr id="5" name="Content Placeholder 4" descr="A graph with different colored bars&#10;&#10;AI-generated content may be incorrect.">
            <a:extLst>
              <a:ext uri="{FF2B5EF4-FFF2-40B4-BE49-F238E27FC236}">
                <a16:creationId xmlns:a16="http://schemas.microsoft.com/office/drawing/2014/main" id="{C4EC1314-11F1-3666-7D54-1B4F4B68976F}"/>
              </a:ext>
            </a:extLst>
          </p:cNvPr>
          <p:cNvPicPr>
            <a:picLocks noGrp="1" noChangeAspect="1"/>
          </p:cNvPicPr>
          <p:nvPr>
            <p:ph idx="1"/>
          </p:nvPr>
        </p:nvPicPr>
        <p:blipFill>
          <a:blip r:embed="rId2"/>
          <a:stretch>
            <a:fillRect/>
          </a:stretch>
        </p:blipFill>
        <p:spPr>
          <a:xfrm>
            <a:off x="1033463" y="1679188"/>
            <a:ext cx="9985375" cy="4340999"/>
          </a:xfrm>
        </p:spPr>
      </p:pic>
    </p:spTree>
    <p:extLst>
      <p:ext uri="{BB962C8B-B14F-4D97-AF65-F5344CB8AC3E}">
        <p14:creationId xmlns:p14="http://schemas.microsoft.com/office/powerpoint/2010/main" val="475554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9BC1-9A09-3D55-AEAC-5741407BB199}"/>
              </a:ext>
            </a:extLst>
          </p:cNvPr>
          <p:cNvSpPr>
            <a:spLocks noGrp="1"/>
          </p:cNvSpPr>
          <p:nvPr>
            <p:ph type="title"/>
          </p:nvPr>
        </p:nvSpPr>
        <p:spPr/>
        <p:txBody>
          <a:bodyPr/>
          <a:lstStyle/>
          <a:p>
            <a:r>
              <a:rPr lang="en-GB" dirty="0"/>
              <a:t>Flight Number vs. Orbit type</a:t>
            </a:r>
            <a:endParaRPr lang="en-NL" dirty="0"/>
          </a:p>
        </p:txBody>
      </p:sp>
      <p:pic>
        <p:nvPicPr>
          <p:cNvPr id="5" name="Content Placeholder 4" descr="A screen shot of a computer screen&#10;&#10;AI-generated content may be incorrect.">
            <a:extLst>
              <a:ext uri="{FF2B5EF4-FFF2-40B4-BE49-F238E27FC236}">
                <a16:creationId xmlns:a16="http://schemas.microsoft.com/office/drawing/2014/main" id="{B02F57B3-1E7E-78C6-D006-BE46047E6339}"/>
              </a:ext>
            </a:extLst>
          </p:cNvPr>
          <p:cNvPicPr>
            <a:picLocks noGrp="1" noChangeAspect="1"/>
          </p:cNvPicPr>
          <p:nvPr>
            <p:ph idx="1"/>
          </p:nvPr>
        </p:nvPicPr>
        <p:blipFill>
          <a:blip r:embed="rId2"/>
          <a:stretch>
            <a:fillRect/>
          </a:stretch>
        </p:blipFill>
        <p:spPr>
          <a:xfrm>
            <a:off x="900648" y="2426325"/>
            <a:ext cx="9985375" cy="2725496"/>
          </a:xfrm>
        </p:spPr>
      </p:pic>
    </p:spTree>
    <p:extLst>
      <p:ext uri="{BB962C8B-B14F-4D97-AF65-F5344CB8AC3E}">
        <p14:creationId xmlns:p14="http://schemas.microsoft.com/office/powerpoint/2010/main" val="2642922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B456-7D7A-8A61-4FE3-5D5F6522219B}"/>
              </a:ext>
            </a:extLst>
          </p:cNvPr>
          <p:cNvSpPr>
            <a:spLocks noGrp="1"/>
          </p:cNvSpPr>
          <p:nvPr>
            <p:ph type="title"/>
          </p:nvPr>
        </p:nvSpPr>
        <p:spPr/>
        <p:txBody>
          <a:bodyPr/>
          <a:lstStyle/>
          <a:p>
            <a:r>
              <a:rPr lang="en-GB" dirty="0"/>
              <a:t>Payload vs. Orbit type</a:t>
            </a:r>
            <a:endParaRPr lang="en-NL" dirty="0"/>
          </a:p>
        </p:txBody>
      </p:sp>
      <p:pic>
        <p:nvPicPr>
          <p:cNvPr id="5" name="Content Placeholder 4" descr="A screen shot of a graph&#10;&#10;AI-generated content may be incorrect.">
            <a:extLst>
              <a:ext uri="{FF2B5EF4-FFF2-40B4-BE49-F238E27FC236}">
                <a16:creationId xmlns:a16="http://schemas.microsoft.com/office/drawing/2014/main" id="{B128A434-F12B-8120-07E2-027AC15CE72D}"/>
              </a:ext>
            </a:extLst>
          </p:cNvPr>
          <p:cNvPicPr>
            <a:picLocks noGrp="1" noChangeAspect="1"/>
          </p:cNvPicPr>
          <p:nvPr>
            <p:ph idx="1"/>
          </p:nvPr>
        </p:nvPicPr>
        <p:blipFill>
          <a:blip r:embed="rId2"/>
          <a:stretch>
            <a:fillRect/>
          </a:stretch>
        </p:blipFill>
        <p:spPr>
          <a:xfrm>
            <a:off x="789347" y="2135200"/>
            <a:ext cx="9985375" cy="2587599"/>
          </a:xfrm>
        </p:spPr>
      </p:pic>
    </p:spTree>
    <p:extLst>
      <p:ext uri="{BB962C8B-B14F-4D97-AF65-F5344CB8AC3E}">
        <p14:creationId xmlns:p14="http://schemas.microsoft.com/office/powerpoint/2010/main" val="427504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8F3-ED52-43CD-50C8-FA45BDEAD964}"/>
              </a:ext>
            </a:extLst>
          </p:cNvPr>
          <p:cNvSpPr>
            <a:spLocks noGrp="1"/>
          </p:cNvSpPr>
          <p:nvPr>
            <p:ph type="title"/>
          </p:nvPr>
        </p:nvSpPr>
        <p:spPr/>
        <p:txBody>
          <a:bodyPr/>
          <a:lstStyle/>
          <a:p>
            <a:r>
              <a:rPr lang="en-GB" dirty="0"/>
              <a:t>Launch Success Yearly Trend</a:t>
            </a:r>
            <a:endParaRPr lang="en-NL" dirty="0"/>
          </a:p>
        </p:txBody>
      </p:sp>
      <p:pic>
        <p:nvPicPr>
          <p:cNvPr id="5" name="Content Placeholder 4" descr="A graph with a line going up&#10;&#10;AI-generated content may be incorrect.">
            <a:extLst>
              <a:ext uri="{FF2B5EF4-FFF2-40B4-BE49-F238E27FC236}">
                <a16:creationId xmlns:a16="http://schemas.microsoft.com/office/drawing/2014/main" id="{A1A63860-3C8D-0120-EECB-BB45B0887297}"/>
              </a:ext>
            </a:extLst>
          </p:cNvPr>
          <p:cNvPicPr>
            <a:picLocks noGrp="1" noChangeAspect="1"/>
          </p:cNvPicPr>
          <p:nvPr>
            <p:ph idx="1"/>
          </p:nvPr>
        </p:nvPicPr>
        <p:blipFill>
          <a:blip r:embed="rId2"/>
          <a:stretch>
            <a:fillRect/>
          </a:stretch>
        </p:blipFill>
        <p:spPr>
          <a:xfrm>
            <a:off x="1149350" y="1601788"/>
            <a:ext cx="9753600" cy="4495800"/>
          </a:xfrm>
        </p:spPr>
      </p:pic>
    </p:spTree>
    <p:extLst>
      <p:ext uri="{BB962C8B-B14F-4D97-AF65-F5344CB8AC3E}">
        <p14:creationId xmlns:p14="http://schemas.microsoft.com/office/powerpoint/2010/main" val="3045515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BA00-1FA6-1E2D-D476-F5A0B1BCD4CD}"/>
              </a:ext>
            </a:extLst>
          </p:cNvPr>
          <p:cNvSpPr>
            <a:spLocks noGrp="1"/>
          </p:cNvSpPr>
          <p:nvPr>
            <p:ph type="title"/>
          </p:nvPr>
        </p:nvSpPr>
        <p:spPr/>
        <p:txBody>
          <a:bodyPr/>
          <a:lstStyle/>
          <a:p>
            <a:r>
              <a:rPr lang="en-GB" dirty="0"/>
              <a:t>EDA with SQL</a:t>
            </a:r>
            <a:endParaRPr lang="en-NL" dirty="0"/>
          </a:p>
        </p:txBody>
      </p:sp>
      <p:pic>
        <p:nvPicPr>
          <p:cNvPr id="5" name="Content Placeholder 4" descr="A white text on a white background&#10;&#10;AI-generated content may be incorrect.">
            <a:extLst>
              <a:ext uri="{FF2B5EF4-FFF2-40B4-BE49-F238E27FC236}">
                <a16:creationId xmlns:a16="http://schemas.microsoft.com/office/drawing/2014/main" id="{545E6EE9-4547-FE42-8FDE-97581F0E63EA}"/>
              </a:ext>
            </a:extLst>
          </p:cNvPr>
          <p:cNvPicPr>
            <a:picLocks noGrp="1" noChangeAspect="1"/>
          </p:cNvPicPr>
          <p:nvPr>
            <p:ph idx="1"/>
          </p:nvPr>
        </p:nvPicPr>
        <p:blipFill>
          <a:blip r:embed="rId2"/>
          <a:stretch>
            <a:fillRect/>
          </a:stretch>
        </p:blipFill>
        <p:spPr>
          <a:xfrm>
            <a:off x="1033463" y="2371777"/>
            <a:ext cx="9985375" cy="2955822"/>
          </a:xfrm>
        </p:spPr>
      </p:pic>
    </p:spTree>
    <p:extLst>
      <p:ext uri="{BB962C8B-B14F-4D97-AF65-F5344CB8AC3E}">
        <p14:creationId xmlns:p14="http://schemas.microsoft.com/office/powerpoint/2010/main" val="751553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5CB90-E522-3DA9-5BF8-8501B1A7E5CC}"/>
              </a:ext>
            </a:extLst>
          </p:cNvPr>
          <p:cNvSpPr>
            <a:spLocks noGrp="1"/>
          </p:cNvSpPr>
          <p:nvPr>
            <p:ph type="title"/>
          </p:nvPr>
        </p:nvSpPr>
        <p:spPr/>
        <p:txBody>
          <a:bodyPr/>
          <a:lstStyle/>
          <a:p>
            <a:r>
              <a:rPr lang="en-GB" dirty="0"/>
              <a:t>Launch Site Names Beginning with `CCA`</a:t>
            </a:r>
            <a:endParaRPr lang="en-NL" dirty="0"/>
          </a:p>
        </p:txBody>
      </p:sp>
      <p:pic>
        <p:nvPicPr>
          <p:cNvPr id="5" name="Content Placeholder 4" descr="A screenshot of a computer&#10;&#10;AI-generated content may be incorrect.">
            <a:extLst>
              <a:ext uri="{FF2B5EF4-FFF2-40B4-BE49-F238E27FC236}">
                <a16:creationId xmlns:a16="http://schemas.microsoft.com/office/drawing/2014/main" id="{41D2D755-9B35-D884-D8B0-32561D30FCF3}"/>
              </a:ext>
            </a:extLst>
          </p:cNvPr>
          <p:cNvPicPr>
            <a:picLocks noGrp="1" noChangeAspect="1"/>
          </p:cNvPicPr>
          <p:nvPr>
            <p:ph idx="1"/>
          </p:nvPr>
        </p:nvPicPr>
        <p:blipFill>
          <a:blip r:embed="rId2"/>
          <a:stretch>
            <a:fillRect/>
          </a:stretch>
        </p:blipFill>
        <p:spPr>
          <a:xfrm>
            <a:off x="1033463" y="2332696"/>
            <a:ext cx="9985375" cy="3033983"/>
          </a:xfrm>
        </p:spPr>
      </p:pic>
    </p:spTree>
    <p:extLst>
      <p:ext uri="{BB962C8B-B14F-4D97-AF65-F5344CB8AC3E}">
        <p14:creationId xmlns:p14="http://schemas.microsoft.com/office/powerpoint/2010/main" val="1728784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FDCE1-5BFB-8EE2-120D-8CAD040C7513}"/>
              </a:ext>
            </a:extLst>
          </p:cNvPr>
          <p:cNvSpPr>
            <a:spLocks noGrp="1"/>
          </p:cNvSpPr>
          <p:nvPr>
            <p:ph type="title"/>
          </p:nvPr>
        </p:nvSpPr>
        <p:spPr/>
        <p:txBody>
          <a:bodyPr/>
          <a:lstStyle/>
          <a:p>
            <a:r>
              <a:rPr lang="en-GB" dirty="0"/>
              <a:t>Total Payload Mass from NASA</a:t>
            </a:r>
            <a:endParaRPr lang="en-NL" dirty="0"/>
          </a:p>
        </p:txBody>
      </p:sp>
      <p:pic>
        <p:nvPicPr>
          <p:cNvPr id="5" name="Content Placeholder 4" descr="A screenshot of a computer&#10;&#10;AI-generated content may be incorrect.">
            <a:extLst>
              <a:ext uri="{FF2B5EF4-FFF2-40B4-BE49-F238E27FC236}">
                <a16:creationId xmlns:a16="http://schemas.microsoft.com/office/drawing/2014/main" id="{4A6232FE-4569-E635-86B1-71EB0559AE0B}"/>
              </a:ext>
            </a:extLst>
          </p:cNvPr>
          <p:cNvPicPr>
            <a:picLocks noGrp="1" noChangeAspect="1"/>
          </p:cNvPicPr>
          <p:nvPr>
            <p:ph idx="1"/>
          </p:nvPr>
        </p:nvPicPr>
        <p:blipFill>
          <a:blip r:embed="rId2"/>
          <a:stretch>
            <a:fillRect/>
          </a:stretch>
        </p:blipFill>
        <p:spPr>
          <a:xfrm>
            <a:off x="1033463" y="2332696"/>
            <a:ext cx="9985375" cy="3033983"/>
          </a:xfrm>
        </p:spPr>
      </p:pic>
    </p:spTree>
    <p:extLst>
      <p:ext uri="{BB962C8B-B14F-4D97-AF65-F5344CB8AC3E}">
        <p14:creationId xmlns:p14="http://schemas.microsoft.com/office/powerpoint/2010/main" val="929097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B885-2516-7641-A56F-B9511F4422C7}"/>
              </a:ext>
            </a:extLst>
          </p:cNvPr>
          <p:cNvSpPr>
            <a:spLocks noGrp="1"/>
          </p:cNvSpPr>
          <p:nvPr>
            <p:ph type="title"/>
          </p:nvPr>
        </p:nvSpPr>
        <p:spPr/>
        <p:txBody>
          <a:bodyPr/>
          <a:lstStyle/>
          <a:p>
            <a:r>
              <a:rPr lang="en-GB" dirty="0"/>
              <a:t>Average Payload Mass by F9 v1.1</a:t>
            </a:r>
            <a:endParaRPr lang="en-NL" dirty="0"/>
          </a:p>
        </p:txBody>
      </p:sp>
      <p:pic>
        <p:nvPicPr>
          <p:cNvPr id="5" name="Content Placeholder 4" descr="A screenshot of a computer code&#10;&#10;AI-generated content may be incorrect.">
            <a:extLst>
              <a:ext uri="{FF2B5EF4-FFF2-40B4-BE49-F238E27FC236}">
                <a16:creationId xmlns:a16="http://schemas.microsoft.com/office/drawing/2014/main" id="{C7848381-0336-B932-72BC-19124DD00946}"/>
              </a:ext>
            </a:extLst>
          </p:cNvPr>
          <p:cNvPicPr>
            <a:picLocks noGrp="1" noChangeAspect="1"/>
          </p:cNvPicPr>
          <p:nvPr>
            <p:ph idx="1"/>
          </p:nvPr>
        </p:nvPicPr>
        <p:blipFill>
          <a:blip r:embed="rId2"/>
          <a:stretch>
            <a:fillRect/>
          </a:stretch>
        </p:blipFill>
        <p:spPr>
          <a:xfrm>
            <a:off x="1033463" y="2332696"/>
            <a:ext cx="9985375" cy="3033983"/>
          </a:xfrm>
        </p:spPr>
      </p:pic>
    </p:spTree>
    <p:extLst>
      <p:ext uri="{BB962C8B-B14F-4D97-AF65-F5344CB8AC3E}">
        <p14:creationId xmlns:p14="http://schemas.microsoft.com/office/powerpoint/2010/main" val="3997576327"/>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docProps/app.xml><?xml version="1.0" encoding="utf-8"?>
<Properties xmlns="http://schemas.openxmlformats.org/officeDocument/2006/extended-properties" xmlns:vt="http://schemas.openxmlformats.org/officeDocument/2006/docPropsVTypes">
  <TotalTime>105</TotalTime>
  <Words>945</Words>
  <Application>Microsoft Macintosh PowerPoint</Application>
  <PresentationFormat>Widescreen</PresentationFormat>
  <Paragraphs>59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 Next LT Pro</vt:lpstr>
      <vt:lpstr>Avenir Next LT Pro Light</vt:lpstr>
      <vt:lpstr>Neue Haas Grotesk Text Pro</vt:lpstr>
      <vt:lpstr>GradientRise</vt:lpstr>
      <vt:lpstr>DATA SCIENCE CAPSTONE PROJECT</vt:lpstr>
      <vt:lpstr>OUTLINE</vt:lpstr>
      <vt:lpstr>EXECUTIVE SUMMARY</vt:lpstr>
      <vt:lpstr>Introduction</vt:lpstr>
      <vt:lpstr>Methodology</vt:lpstr>
      <vt:lpstr>Data Collection Overview</vt:lpstr>
      <vt:lpstr>Data Wrangling</vt:lpstr>
      <vt:lpstr>EDA with Data Visualization</vt:lpstr>
      <vt:lpstr>EDA with SQL</vt:lpstr>
      <vt:lpstr>Build an interactive map with Folium</vt:lpstr>
      <vt:lpstr>Build a Dashboard with Plotly Dash</vt:lpstr>
      <vt:lpstr>Predictive analysis (Classification)</vt:lpstr>
      <vt:lpstr>E D A with Visualization</vt:lpstr>
      <vt:lpstr>Payload vs. Launch Site</vt:lpstr>
      <vt:lpstr>Success rate vs. Orbit type</vt:lpstr>
      <vt:lpstr>Flight Number vs. Orbit type</vt:lpstr>
      <vt:lpstr>Payload vs. Orbit type</vt:lpstr>
      <vt:lpstr>Launch Success Yearly Trend</vt:lpstr>
      <vt:lpstr>EDA with SQL</vt:lpstr>
      <vt:lpstr>Launch Site Names Beginning with `CCA`</vt:lpstr>
      <vt:lpstr>Total Payload Mass from NASA</vt:lpstr>
      <vt:lpstr>Average Payload Mass by F9 v1.1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Comfyship office</dc:creator>
  <cp:lastModifiedBy>Comfyship office</cp:lastModifiedBy>
  <cp:revision>1</cp:revision>
  <dcterms:created xsi:type="dcterms:W3CDTF">2026-01-10T15:12:26Z</dcterms:created>
  <dcterms:modified xsi:type="dcterms:W3CDTF">2026-01-10T16:57:27Z</dcterms:modified>
</cp:coreProperties>
</file>